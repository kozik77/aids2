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Dzień dobry. Nazywam się Danila Kozik. To jest mój projekt z przedmiotu Algorytmy i Struktury Danych II. Nazywa się „Królestwo Krasnoludków". Pokazuję w nim cztery znane algorytmy. Połączyłem je w jedną historię — o jednym dniu w królestwie.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Cała historia to cztery zadania jednego dnia. Rano trzeba przydzielić górników do kopalni. W południe trzeba wyznaczyć trasę patrolu, żeby obronić teren. Po południu wróg atakuje mur — trzeba szybko zareagować. Wieczorem trzeba zapisać kronikę dnia. Każde zadanie to inny problem algorytmiczny.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Najważniejsze jest to: każdy problem rozwiązałem innym znanym algorytmem. Przydział górników — algorytm MCMF. Trasa patrolu — otoczka wypukła. Obrona muru — drzewo przedziałowe. Kronika — kodowanie Huffmana. Pod każdym napisałem jego złożoność. Teraz opowiem o każdym osobno.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Pierwszy moduł — przydział górników. Każdy górnik umie co innego i ma inną odległość do kopalni. Chcemy dać pracę jak największej liczbie górników. I chcemy, żeby łączna droga była jak najmniejsza. Rozwiązanie to sieć przepływowa. Maksymalny przepływ daje maksymalne zatrudnienie. Minimalny koszt daje najkrótszą drogę. Użyłem algorytmu SPFA, a nie Dijkstry, bo w grafie pojawiają się ujemne koszty. Złożoność: O od F razy V razy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Drugi moduł — trasa patrolu. Książę musi obejść wszystkie czynne kopalnie murem. Trasa ma być jak najkrótsza. To jest otoczka wypukła. Można to sobie wyobrazić jak gumkę naciągniętą na punkty. Użyłem algorytmu Andrew: najpierw sortuję punkty, potem buduję dolną i górną część. To nie jest problem komiwojażera. Książę idzie tylko po zewnątrz, więc punkty w środku pomijam. Złożoność to O n log n — głównie przez sortowanie.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Trzeci moduł — obrona. Wróg atakuje jeden odcinek muru. Musimy szybko znaleźć najgłośniejszego strażnika — on wezwie pomoc. To jest pytanie o maksimum na przedziale, czyli RMQ. Zbudowałem drzewo przedziałowe. Każdy węzeł trzyma maksimum swojego zakresu. Dzięki temu odpowiedź zajmuje O log n, a nie O n. Wybrałem drzewo, a nie Sparse Table, bo drzewo pozwala też zmieniać wartości.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Czwarty moduł — kronika. Trzeba ją zmniejszyć i szybko szukać w niej słów. Do zmniejszania użyłem kodowania Huffmana. Częsty znak dostaje krótki kod — tak jak w alfabecie Morse’a. Drzewo buduję z kolejki priorytetowej. Do szukania słów dodałem strukturę Trie. Ona szuka po prefiksie w czasie O k. Kompresja jest bezstratna — nic się nie traci.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jest najważniejszy slajd. To nie są cztery osobne zadania. To jeden ciąg — pajplajn. Wynik jednego modułu to dane dla następnego. Moduł 1 daje listę czynnych kopalni. Te kopalnie to punkty dla modułu 2. Trasa z modułu 2 to mur dla modułu 3. A wynik obrony zapisuje moduł 4 w kronice. Wszystko płynie przez całe królestwo.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 to nie tylko algorytmy. Mam 26 testów — wszystkie przechodzą. Ważne operacje działają szybko, w czasie logarytmicznym. Testy uruchamiają się same przez GitHub Actions po każdej zmianie. Kod jest podzielony na cztery moduły. Użyłem: Python, pytest, matplotlib. Jest też pełna dokumentacja po polsku.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koniec pokażę, że to naprawdę działa — na żywo. Mam wizualizację każdego algorytmu krok po kroku. Mam grę przez cały pajplajn. Mam też tryb piaskownicy. [TERAZ PRZEŁĄCZAM NA APLIKACJĘ: w module 2 klikam punkty — trasa liczy się od razu. Albo w module 4 proszę o dowolne słowo i pokazuję, o ile procent tekst się zmniejszył.]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Podsumuję. Cztery znane problemy algorytmiczne. Połączone w jedną historię. Z działającym kodem, testami i wizualizacjami. To bajka, która naprawdę działa. Dziękuję za uwagę. Chętnie odpowiem na pytania.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ALGORYTMY I STRUKTURY DANYCH II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Królestwo Krasnoludków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Cztery problemy królestwa — cztery algorytmy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14216" y="4297680"/>
            <a:ext cx="566928" cy="566928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6" name="Image 0" descr="ic_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7287" y="4450751"/>
            <a:ext cx="260787" cy="26078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02936" y="4297680"/>
            <a:ext cx="566928" cy="566928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8" name="Image 1" descr="ic_m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007" y="4450751"/>
            <a:ext cx="260787" cy="26078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91656" y="4297680"/>
            <a:ext cx="566928" cy="566928"/>
          </a:xfrm>
          <a:prstGeom prst="ellipse">
            <a:avLst/>
          </a:prstGeom>
          <a:solidFill>
            <a:srgbClr val="F47C7C"/>
          </a:solidFill>
          <a:ln/>
        </p:spPr>
      </p:sp>
      <p:pic>
        <p:nvPicPr>
          <p:cNvPr id="10" name="Image 2" descr="ic_m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727" y="4450751"/>
            <a:ext cx="260787" cy="260787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580376" y="4297680"/>
            <a:ext cx="566928" cy="566928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12" name="Image 3" descr="ic_m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3447" y="4450751"/>
            <a:ext cx="260787" cy="26078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Danila Kozik   ·   UMK Toruń   ·   github.com/kozik77/AISD-2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F5C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Jeden dzień w królestwie — cztery wyzwania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77440"/>
            <a:ext cx="914400" cy="914400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6" name="Image 0" descr="ic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262432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48840" y="216712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Kogo do której kopalni?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2148840" y="2715768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Górnicy mają różne umiejętności i odległości. Zatrudnić maksimum przy minimum drogi.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187452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2377440"/>
            <a:ext cx="914400" cy="914400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11" name="Image 1" descr="ic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62432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0" y="216712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Jak obronić teren?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772400" y="2715768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Książę musi obejść czynne kopalnie murem po najkrótszej trasie.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05840" y="4572000"/>
            <a:ext cx="914400" cy="914400"/>
          </a:xfrm>
          <a:prstGeom prst="ellipse">
            <a:avLst/>
          </a:prstGeom>
          <a:solidFill>
            <a:srgbClr val="F47C7C"/>
          </a:solidFill>
          <a:ln/>
        </p:spPr>
      </p:sp>
      <p:pic>
        <p:nvPicPr>
          <p:cNvPr id="16" name="Image 2" descr="ic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481888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48840" y="436168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Kto odeprze atak?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2148840" y="4910328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Wróg uderza w odcinek muru — kto ze strażników krzyknie najgłośniej?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63640" y="40690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29400" y="4572000"/>
            <a:ext cx="914400" cy="914400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21" name="Image 3" descr="ic_p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4818888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0" y="436168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Jak zapisać kronikę?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772400" y="4910328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Wydarzenia dnia trzeba zarchiwizować oszczędnie i przeszukiwalnie.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4D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CZYM ROZWIĄZALIŚMY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Cztery problemy → cztery algorytmy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60320" cy="342900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86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D9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508760" y="2834640"/>
            <a:ext cx="822960" cy="822960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7" name="Image 0" descr="ic_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959" y="3056839"/>
            <a:ext cx="378562" cy="3785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Min-Cost Max-Flow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97280" y="45720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4DD9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45720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D9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O(F · V · 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przydział górników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429000" y="2057400"/>
            <a:ext cx="2560320" cy="342900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57600" y="2286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297680" y="2834640"/>
            <a:ext cx="822960" cy="822960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15" name="Image 1" descr="ic_m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9879" y="3056839"/>
            <a:ext cx="378562" cy="37856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6616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Otoczka wypukła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3886200" y="45720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F5C84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886200" y="45720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56616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trasa patrolu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17920" y="2057400"/>
            <a:ext cx="2560320" cy="342900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46520" y="2286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C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7086600" y="2834640"/>
            <a:ext cx="822960" cy="822960"/>
          </a:xfrm>
          <a:prstGeom prst="ellipse">
            <a:avLst/>
          </a:prstGeom>
          <a:solidFill>
            <a:srgbClr val="F47C7C"/>
          </a:solidFill>
          <a:ln/>
        </p:spPr>
      </p:sp>
      <p:pic>
        <p:nvPicPr>
          <p:cNvPr id="23" name="Image 2" descr="ic_m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799" y="3056839"/>
            <a:ext cx="378562" cy="37856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Drzewo przedziałowe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6675120" y="45720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F47C7C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675120" y="45720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7C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O(log n)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635508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obrona muru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9006840" y="2057400"/>
            <a:ext cx="2560320" cy="342900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235440" y="2286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9875520" y="2834640"/>
            <a:ext cx="822960" cy="822960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31" name="Image 3" descr="ic_m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7719" y="3056839"/>
            <a:ext cx="378562" cy="37856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440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+ Trie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9464040" y="45720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5BC88E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9464040" y="45720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91440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spis kroniki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83280" cy="6858000"/>
          </a:xfrm>
          <a:prstGeom prst="rect">
            <a:avLst/>
          </a:prstGeom>
          <a:solidFill>
            <a:srgbClr val="191934"/>
          </a:solidFill>
          <a:ln/>
        </p:spPr>
      </p:sp>
      <p:sp>
        <p:nvSpPr>
          <p:cNvPr id="3" name="Shape 1"/>
          <p:cNvSpPr/>
          <p:nvPr/>
        </p:nvSpPr>
        <p:spPr>
          <a:xfrm>
            <a:off x="3364992" y="0"/>
            <a:ext cx="36576" cy="6858000"/>
          </a:xfrm>
          <a:prstGeom prst="rect">
            <a:avLst/>
          </a:prstGeom>
          <a:solidFill>
            <a:srgbClr val="4DD9F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40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D9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1463040"/>
            <a:ext cx="1097280" cy="1097280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6" name="Image 0" descr="ic_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266" y="1759306"/>
            <a:ext cx="504749" cy="5047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MCMF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74320" y="33101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Min-Cost Max-Flow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4320" y="40690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37083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4DD9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D9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O(F · V · E)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40480" y="914400"/>
            <a:ext cx="73152" cy="292608"/>
          </a:xfrm>
          <a:prstGeom prst="rect">
            <a:avLst/>
          </a:prstGeom>
          <a:solidFill>
            <a:srgbClr val="4DD9F0"/>
          </a:solidFill>
          <a:ln/>
        </p:spPr>
      </p:sp>
      <p:sp>
        <p:nvSpPr>
          <p:cNvPr id="13" name="Text 10"/>
          <p:cNvSpPr/>
          <p:nvPr/>
        </p:nvSpPr>
        <p:spPr>
          <a:xfrm>
            <a:off x="4069080" y="8686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D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069080" y="132588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Przydzielić górników do kopalni: zatrudnić jak najwięcej, przy minimalnej sumie odległości.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840480" y="2788920"/>
            <a:ext cx="73152" cy="292608"/>
          </a:xfrm>
          <a:prstGeom prst="rect">
            <a:avLst/>
          </a:prstGeom>
          <a:solidFill>
            <a:srgbClr val="4DD9F0"/>
          </a:solidFill>
          <a:ln/>
        </p:spPr>
      </p:sp>
      <p:sp>
        <p:nvSpPr>
          <p:cNvPr id="16" name="Text 13"/>
          <p:cNvSpPr/>
          <p:nvPr/>
        </p:nvSpPr>
        <p:spPr>
          <a:xfrm>
            <a:off x="4069080" y="27432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D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69080" y="320040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Sieć przepływowa: źródło → górnicy → kopalnie → ujście. Maks. przepływ = max zatrudnienie, min. koszt = min droga.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3840480" y="4663440"/>
            <a:ext cx="73152" cy="292608"/>
          </a:xfrm>
          <a:prstGeom prst="rect">
            <a:avLst/>
          </a:prstGeom>
          <a:solidFill>
            <a:srgbClr val="4DD9F0"/>
          </a:solidFill>
          <a:ln/>
        </p:spPr>
      </p:sp>
      <p:sp>
        <p:nvSpPr>
          <p:cNvPr id="19" name="Text 16"/>
          <p:cNvSpPr/>
          <p:nvPr/>
        </p:nvSpPr>
        <p:spPr>
          <a:xfrm>
            <a:off x="4069080" y="46177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D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TO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069080" y="507492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Łączy dwa cele w JEDNYM przebiegu. SPFA zamiast Dijkstry — radzi sobie z ujemnymi kosztami w grafie residualnym.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83280" cy="6858000"/>
          </a:xfrm>
          <a:prstGeom prst="rect">
            <a:avLst/>
          </a:prstGeom>
          <a:solidFill>
            <a:srgbClr val="191934"/>
          </a:solidFill>
          <a:ln/>
        </p:spPr>
      </p:sp>
      <p:sp>
        <p:nvSpPr>
          <p:cNvPr id="3" name="Shape 1"/>
          <p:cNvSpPr/>
          <p:nvPr/>
        </p:nvSpPr>
        <p:spPr>
          <a:xfrm>
            <a:off x="3364992" y="0"/>
            <a:ext cx="36576" cy="6858000"/>
          </a:xfrm>
          <a:prstGeom prst="rect">
            <a:avLst/>
          </a:prstGeom>
          <a:solidFill>
            <a:srgbClr val="F5C84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40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1463040"/>
            <a:ext cx="1097280" cy="1097280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6" name="Image 0" descr="ic_m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266" y="1759306"/>
            <a:ext cx="504749" cy="5047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Otoczka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74320" y="33101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Otoczka wypukła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4320" y="40690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37083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F5C84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40480" y="914400"/>
            <a:ext cx="73152" cy="292608"/>
          </a:xfrm>
          <a:prstGeom prst="rect">
            <a:avLst/>
          </a:prstGeom>
          <a:solidFill>
            <a:srgbClr val="F5C84B"/>
          </a:solidFill>
          <a:ln/>
        </p:spPr>
      </p:sp>
      <p:sp>
        <p:nvSpPr>
          <p:cNvPr id="13" name="Text 10"/>
          <p:cNvSpPr/>
          <p:nvPr/>
        </p:nvSpPr>
        <p:spPr>
          <a:xfrm>
            <a:off x="4069080" y="8686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C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069080" y="132588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Najkrótsza zamknięta trasa, która obejmuje wszystkie czynne kopalnie.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840480" y="2788920"/>
            <a:ext cx="73152" cy="292608"/>
          </a:xfrm>
          <a:prstGeom prst="rect">
            <a:avLst/>
          </a:prstGeom>
          <a:solidFill>
            <a:srgbClr val="F5C84B"/>
          </a:solidFill>
          <a:ln/>
        </p:spPr>
      </p:sp>
      <p:sp>
        <p:nvSpPr>
          <p:cNvPr id="16" name="Text 13"/>
          <p:cNvSpPr/>
          <p:nvPr/>
        </p:nvSpPr>
        <p:spPr>
          <a:xfrm>
            <a:off x="4069080" y="27432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C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69080" y="320040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„Gumka recepturka" naciągnięta na skrajne punkty. Sortowanie, potem dolna i górna półotoczka.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3840480" y="4663440"/>
            <a:ext cx="73152" cy="292608"/>
          </a:xfrm>
          <a:prstGeom prst="rect">
            <a:avLst/>
          </a:prstGeom>
          <a:solidFill>
            <a:srgbClr val="F5C84B"/>
          </a:solidFill>
          <a:ln/>
        </p:spPr>
      </p:sp>
      <p:sp>
        <p:nvSpPr>
          <p:cNvPr id="19" name="Text 16"/>
          <p:cNvSpPr/>
          <p:nvPr/>
        </p:nvSpPr>
        <p:spPr>
          <a:xfrm>
            <a:off x="4069080" y="46177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C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TO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069080" y="507492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 zamiast wykładniczego TSP — Książę okrąża teren po obwodzie. Punkty wewnętrzne pomijane automatycznie.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83280" cy="6858000"/>
          </a:xfrm>
          <a:prstGeom prst="rect">
            <a:avLst/>
          </a:prstGeom>
          <a:solidFill>
            <a:srgbClr val="191934"/>
          </a:solidFill>
          <a:ln/>
        </p:spPr>
      </p:sp>
      <p:sp>
        <p:nvSpPr>
          <p:cNvPr id="3" name="Shape 1"/>
          <p:cNvSpPr/>
          <p:nvPr/>
        </p:nvSpPr>
        <p:spPr>
          <a:xfrm>
            <a:off x="3364992" y="0"/>
            <a:ext cx="36576" cy="6858000"/>
          </a:xfrm>
          <a:prstGeom prst="rect">
            <a:avLst/>
          </a:prstGeom>
          <a:solidFill>
            <a:srgbClr val="F47C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40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C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1463040"/>
            <a:ext cx="1097280" cy="1097280"/>
          </a:xfrm>
          <a:prstGeom prst="ellipse">
            <a:avLst/>
          </a:prstGeom>
          <a:solidFill>
            <a:srgbClr val="F47C7C"/>
          </a:solidFill>
          <a:ln/>
        </p:spPr>
      </p:sp>
      <p:pic>
        <p:nvPicPr>
          <p:cNvPr id="6" name="Image 0" descr="ic_m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266" y="1759306"/>
            <a:ext cx="504749" cy="5047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RMQ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74320" y="33101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Drzewo przedziałowe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4320" y="40690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37083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F47C7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7C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O(log n)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40480" y="914400"/>
            <a:ext cx="73152" cy="292608"/>
          </a:xfrm>
          <a:prstGeom prst="rect">
            <a:avLst/>
          </a:prstGeom>
          <a:solidFill>
            <a:srgbClr val="F47C7C"/>
          </a:solidFill>
          <a:ln/>
        </p:spPr>
      </p:sp>
      <p:sp>
        <p:nvSpPr>
          <p:cNvPr id="13" name="Text 10"/>
          <p:cNvSpPr/>
          <p:nvPr/>
        </p:nvSpPr>
        <p:spPr>
          <a:xfrm>
            <a:off x="4069080" y="8686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47C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069080" y="132588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odcinku muru [l, r] znaleźć strażnika o największej głośności — błyskawicznie.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840480" y="2788920"/>
            <a:ext cx="73152" cy="292608"/>
          </a:xfrm>
          <a:prstGeom prst="rect">
            <a:avLst/>
          </a:prstGeom>
          <a:solidFill>
            <a:srgbClr val="F47C7C"/>
          </a:solidFill>
          <a:ln/>
        </p:spPr>
      </p:sp>
      <p:sp>
        <p:nvSpPr>
          <p:cNvPr id="16" name="Text 13"/>
          <p:cNvSpPr/>
          <p:nvPr/>
        </p:nvSpPr>
        <p:spPr>
          <a:xfrm>
            <a:off x="4069080" y="27432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47C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69080" y="320040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Drzewo, w którym każdy węzeł trzyma maksimum swojego zakresu. Zapytanie schodzi tylko po potrzebnych gałęziach.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3840480" y="4663440"/>
            <a:ext cx="73152" cy="292608"/>
          </a:xfrm>
          <a:prstGeom prst="rect">
            <a:avLst/>
          </a:prstGeom>
          <a:solidFill>
            <a:srgbClr val="F47C7C"/>
          </a:solidFill>
          <a:ln/>
        </p:spPr>
      </p:sp>
      <p:sp>
        <p:nvSpPr>
          <p:cNvPr id="19" name="Text 16"/>
          <p:cNvSpPr/>
          <p:nvPr/>
        </p:nvSpPr>
        <p:spPr>
          <a:xfrm>
            <a:off x="4069080" y="46177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47C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TO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069080" y="507492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 na zapytanie zamiast O(n). W odróżnieniu od Sparse Table pozwala też aktualizować wartości.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83280" cy="6858000"/>
          </a:xfrm>
          <a:prstGeom prst="rect">
            <a:avLst/>
          </a:prstGeom>
          <a:solidFill>
            <a:srgbClr val="191934"/>
          </a:solidFill>
          <a:ln/>
        </p:spPr>
      </p:sp>
      <p:sp>
        <p:nvSpPr>
          <p:cNvPr id="3" name="Shape 1"/>
          <p:cNvSpPr/>
          <p:nvPr/>
        </p:nvSpPr>
        <p:spPr>
          <a:xfrm>
            <a:off x="3364992" y="0"/>
            <a:ext cx="36576" cy="6858000"/>
          </a:xfrm>
          <a:prstGeom prst="rect">
            <a:avLst/>
          </a:prstGeom>
          <a:solidFill>
            <a:srgbClr val="5BC88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40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1463040"/>
            <a:ext cx="1097280" cy="1097280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6" name="Image 0" descr="ic_m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266" y="1759306"/>
            <a:ext cx="504749" cy="5047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Huffman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74320" y="33101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+ Trie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4320" y="40690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37083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4142A"/>
          </a:solidFill>
          <a:ln w="12700">
            <a:solidFill>
              <a:srgbClr val="5BC8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40480" y="914400"/>
            <a:ext cx="73152" cy="292608"/>
          </a:xfrm>
          <a:prstGeom prst="rect">
            <a:avLst/>
          </a:prstGeom>
          <a:solidFill>
            <a:srgbClr val="5BC88E"/>
          </a:solidFill>
          <a:ln/>
        </p:spPr>
      </p:sp>
      <p:sp>
        <p:nvSpPr>
          <p:cNvPr id="13" name="Text 10"/>
          <p:cNvSpPr/>
          <p:nvPr/>
        </p:nvSpPr>
        <p:spPr>
          <a:xfrm>
            <a:off x="4069080" y="8686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069080" y="132588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Skompresować kronikę i szybko wyszukiwać w niej słowa.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840480" y="2788920"/>
            <a:ext cx="73152" cy="292608"/>
          </a:xfrm>
          <a:prstGeom prst="rect">
            <a:avLst/>
          </a:prstGeom>
          <a:solidFill>
            <a:srgbClr val="5BC88E"/>
          </a:solidFill>
          <a:ln/>
        </p:spPr>
      </p:sp>
      <p:sp>
        <p:nvSpPr>
          <p:cNvPr id="16" name="Text 13"/>
          <p:cNvSpPr/>
          <p:nvPr/>
        </p:nvSpPr>
        <p:spPr>
          <a:xfrm>
            <a:off x="4069080" y="27432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69080" y="320040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Huffman: częstszy znak → krótszy kod (drzewo z kolejki priorytetowej). Trie: wyszukiwanie po prefiksie.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3840480" y="4663440"/>
            <a:ext cx="73152" cy="292608"/>
          </a:xfrm>
          <a:prstGeom prst="rect">
            <a:avLst/>
          </a:prstGeom>
          <a:solidFill>
            <a:srgbClr val="5BC88E"/>
          </a:solidFill>
          <a:ln/>
        </p:spPr>
      </p:sp>
      <p:sp>
        <p:nvSpPr>
          <p:cNvPr id="19" name="Text 16"/>
          <p:cNvSpPr/>
          <p:nvPr/>
        </p:nvSpPr>
        <p:spPr>
          <a:xfrm>
            <a:off x="4069080" y="46177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TO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069080" y="5074920"/>
            <a:ext cx="7726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Kompresja bezstratna, optymalna dla danych częstości. Trie daje wyszukiwanie O(k) niezależnie od słownika.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F5C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TO SPÓJNY PROJEKT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Cztery moduły to jeden pajplajn</a:t>
            </a:r>
            <a:endParaRPr lang="en-US" sz="3100" dirty="0"/>
          </a:p>
        </p:txBody>
      </p:sp>
      <p:pic>
        <p:nvPicPr>
          <p:cNvPr id="4" name="Image 0" descr="pipeline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65960"/>
            <a:ext cx="1115568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480060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800" i="1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 każdego modułu jest wejściem następnego — to nie cztery osobne zadania,</a:t>
            </a:r>
            <a:endParaRPr lang="en-US" sz="1800" dirty="0"/>
          </a:p>
          <a:p>
            <a:pPr algn="ctr" indent="0" marL="0">
              <a:lnSpc>
                <a:spcPts val="2700"/>
              </a:lnSpc>
              <a:buNone/>
            </a:pPr>
            <a:r>
              <a:rPr lang="en-US" sz="1800" i="1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lecz jeden ciągły przepływ danych przez królestwo.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4D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LEPSZE STRONY — INŻYNIERIA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Nie tylko działa — jest zrobione solidnie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2468880"/>
            <a:ext cx="457200" cy="457200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6" name="Image 0" descr="ic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5084" y="259232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BC8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22960" y="39319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testów jednostkowych,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zielone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429000" y="214884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80560" y="2468880"/>
            <a:ext cx="457200" cy="457200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11" name="Image 1" descr="ic_sp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2592324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29000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DD9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O(log n)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3611880" y="39319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zapytanie RMQ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zamiast O(n)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0" y="214884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69480" y="2468880"/>
            <a:ext cx="457200" cy="457200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16" name="Image 2" descr="ic_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2924" y="259232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C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</a:t>
            </a:r>
            <a:endParaRPr lang="en-US" sz="3800" dirty="0"/>
          </a:p>
        </p:txBody>
      </p:sp>
      <p:sp>
        <p:nvSpPr>
          <p:cNvPr id="18" name="Text 13"/>
          <p:cNvSpPr/>
          <p:nvPr/>
        </p:nvSpPr>
        <p:spPr>
          <a:xfrm>
            <a:off x="6400800" y="39319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Actions,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testy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9006840" y="214884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0058400" y="2468880"/>
            <a:ext cx="457200" cy="457200"/>
          </a:xfrm>
          <a:prstGeom prst="ellipse">
            <a:avLst/>
          </a:prstGeom>
          <a:solidFill>
            <a:srgbClr val="F47C7C"/>
          </a:solidFill>
          <a:ln/>
        </p:spPr>
      </p:sp>
      <p:pic>
        <p:nvPicPr>
          <p:cNvPr id="21" name="Image 3" descr="ic_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844" y="259232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06840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47C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800" dirty="0"/>
          </a:p>
        </p:txBody>
      </p:sp>
      <p:sp>
        <p:nvSpPr>
          <p:cNvPr id="23" name="Text 17"/>
          <p:cNvSpPr/>
          <p:nvPr/>
        </p:nvSpPr>
        <p:spPr>
          <a:xfrm>
            <a:off x="9189720" y="393192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moduły · Clean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  ·   pytest   ·   matplotlib   ·   Git / GitHub   ·   pełna dokumentacja PL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5B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LEPSZE STRONY —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Algorytmy widać w akcji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784848" y="1618488"/>
            <a:ext cx="4992624" cy="4261104"/>
          </a:xfrm>
          <a:prstGeom prst="roundRect">
            <a:avLst>
              <a:gd name="adj" fmla="val 2146"/>
            </a:avLst>
          </a:prstGeom>
          <a:solidFill>
            <a:srgbClr val="1E1E3A"/>
          </a:solidFill>
          <a:ln w="19050">
            <a:solidFill>
              <a:srgbClr val="F5C84B"/>
            </a:solidFill>
            <a:prstDash val="solid"/>
          </a:ln>
        </p:spPr>
      </p:sp>
      <p:pic>
        <p:nvPicPr>
          <p:cNvPr id="5" name="Image 0" descr="demo_h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83080"/>
            <a:ext cx="4663440" cy="3913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84848" y="5907024"/>
            <a:ext cx="49926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375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· Piaskownica — otoczka liczona na żywo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8" name="Image 1" descr="ic_ga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935" y="2221535"/>
            <a:ext cx="357530" cy="35753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011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 „Jeden dzień w królestwie"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00200" y="24688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Przejście przez cały pajplajn krok po kroku — widać, jak moduły się łączą.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383280"/>
            <a:ext cx="777240" cy="777240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12" name="Image 2" descr="ic_vi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35" y="3593135"/>
            <a:ext cx="357530" cy="3575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00200" y="33832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Interaktywna wizualizacja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600200" y="38404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algorytm animowany: sieć, gumka, drzewo, kody Huffmana.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754880"/>
            <a:ext cx="777240" cy="777240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16" name="Image 3" descr="ic_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35" y="4964735"/>
            <a:ext cx="357530" cy="3575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00200" y="4754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Mapa królestwa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600200" y="52120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plansza pokazuje wynik wszystkich czterech etapów naraz.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Bajka, która działa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Cztery klasyczne problemy algorytmiczne, ubrane w jedną spójną historię —</a:t>
            </a:r>
            <a:endParaRPr lang="en-US" sz="18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działającym kodem, testami i wizualizacjami.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54480" y="420624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55648" y="4434840"/>
            <a:ext cx="411480" cy="411480"/>
          </a:xfrm>
          <a:prstGeom prst="ellipse">
            <a:avLst/>
          </a:prstGeom>
          <a:solidFill>
            <a:srgbClr val="4DD9F0"/>
          </a:solidFill>
          <a:ln/>
        </p:spPr>
      </p:sp>
      <p:pic>
        <p:nvPicPr>
          <p:cNvPr id="6" name="Image 0" descr="ic_m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6748" y="4545940"/>
            <a:ext cx="189281" cy="1892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31136" y="432511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MCMF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231136" y="4636008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9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O(F · V · 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840480" y="420624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41648" y="4434840"/>
            <a:ext cx="411480" cy="411480"/>
          </a:xfrm>
          <a:prstGeom prst="ellipse">
            <a:avLst/>
          </a:prstGeom>
          <a:solidFill>
            <a:srgbClr val="F5C84B"/>
          </a:solidFill>
          <a:ln/>
        </p:spPr>
      </p:sp>
      <p:pic>
        <p:nvPicPr>
          <p:cNvPr id="11" name="Image 1" descr="ic_m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748" y="4545940"/>
            <a:ext cx="189281" cy="1892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17136" y="432511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Otoczka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17136" y="4636008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C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420624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27648" y="4434840"/>
            <a:ext cx="411480" cy="411480"/>
          </a:xfrm>
          <a:prstGeom prst="ellipse">
            <a:avLst/>
          </a:prstGeom>
          <a:solidFill>
            <a:srgbClr val="F47C7C"/>
          </a:solidFill>
          <a:ln/>
        </p:spPr>
      </p:sp>
      <p:pic>
        <p:nvPicPr>
          <p:cNvPr id="16" name="Image 2" descr="ic_m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748" y="4545940"/>
            <a:ext cx="189281" cy="1892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432511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RMQ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803136" y="4636008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7C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O(log n)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412480" y="420624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E1E3A"/>
          </a:solidFill>
          <a:ln w="12700">
            <a:solidFill>
              <a:srgbClr val="2E2E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613648" y="4434840"/>
            <a:ext cx="411480" cy="411480"/>
          </a:xfrm>
          <a:prstGeom prst="ellipse">
            <a:avLst/>
          </a:prstGeom>
          <a:solidFill>
            <a:srgbClr val="5BC88E"/>
          </a:solidFill>
          <a:ln/>
        </p:spPr>
      </p:sp>
      <p:pic>
        <p:nvPicPr>
          <p:cNvPr id="21" name="Image 3" descr="ic_m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4748" y="4545940"/>
            <a:ext cx="189281" cy="18928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89136" y="432511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Huffman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089136" y="4636008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C8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Dziękuję za uwagę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Królestwo Krasnoludków</dc:title>
  <dc:subject>PptxGenJS Presentation</dc:subject>
  <dc:creator>Danila Kozik</dc:creator>
  <cp:lastModifiedBy>Danila Kozik</cp:lastModifiedBy>
  <cp:revision>1</cp:revision>
  <dcterms:created xsi:type="dcterms:W3CDTF">2026-06-08T23:08:09Z</dcterms:created>
  <dcterms:modified xsi:type="dcterms:W3CDTF">2026-06-08T23:08:09Z</dcterms:modified>
</cp:coreProperties>
</file>