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586" autoAdjust="0"/>
  </p:normalViewPr>
  <p:slideViewPr>
    <p:cSldViewPr snapToGrid="0" snapToObjects="1">
      <p:cViewPr varScale="1">
        <p:scale>
          <a:sx n="150" d="100"/>
          <a:sy n="150" d="100"/>
        </p:scale>
        <p:origin x="654" y="126"/>
      </p:cViewPr>
      <p:guideLst/>
    </p:cSldViewPr>
  </p:slideViewPr>
  <p:notesTextViewPr>
    <p:cViewPr>
      <p:scale>
        <a:sx n="1" d="1"/>
        <a:sy n="1" d="1"/>
      </p:scale>
      <p:origin x="0" y="-576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9190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Dzień dobry. Nazywam się Danila Kozik. To jest mój projekt z przedmiotu Algorytmy i Struktury Danych II. Nazywa się „Królestwo Krasnoludków". Pokazuję w nim cztery znane algorytmy. Połączyłem je w jedną historię — o jednym dniu w królestwie.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Cała historia to cztery zadania jednego dnia. Rano trzeba przydzielić górników do kopalni. W południe trzeba wyznaczyć trasę patrolu, żeby obronić teren. Po południu wróg atakuje mur — trzeba szybko zareagować. Wieczorem trzeba zapisać kronikę dnia. Każde zadanie to inny problem algorytmiczny.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Najważniejsze jest to: każdy problem rozwiązałem innym znanym algorytmem. Przydział górników — algorytm MCMF. Trasa patrolu — otoczka wypukła. Obrona muru — drzewo przedziałowe. Kronika — kodowanie Huffmana. Pod każdym napisałem jego złożoność. Teraz opowiem o każdym osobno.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Pierwszy moduł — przydział górników. Każdy górnik umie co innego i ma inną odległość do kopalni. Chcemy dać pracę jak największej liczbie górników. I chcemy, żeby łączna droga była jak najmniejsza. Rozwiązanie to sieć przepływowa. Maksymalny przepływ daje maksymalne zatrudnienie. Minimalny koszt daje najkrótszą drogę. </a:t>
            </a:r>
            <a:br>
              <a:rPr lang="ru-RU" dirty="0"/>
            </a:br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 odpowiedzieć, jeśli zapytają: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$F$ — to wartość maksymalnego przepływu (czyli ilu łącznie krasnoludków musimy przydzielić),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$V$ — to liczba wierzchołków (krasnoludki + kopalnie + źródło/ujście),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$E$ — to liczba krawędzi (połączenia krasnoludków z kopalniami).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Algorytm znajduje najkrótszą ścieżkę $F$ razy, a pojedyncze znalezienie ścieżki zajmuje czas $\mathcal{O}(V \cdot E)$.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dirty="0"/>
              <a:t>„Metoda mądrego króla”. Algorytm patrzy na całą mapę z góry. Kalkuluje wszystko matematycznie w taki sposób, że może wysłać pierwszego krasnoluda do nieco dalszej kopalni, aby zaoszczędzić całe kilometry drogi dla dziesięciu pozostałych. Gwarantuje to, że łączna suma wszystkich tras będzie minimalna.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Drugi moduł — trasa patrolu. Książę musi obejść wszystkie czynne kopalnie murem. Trasa ma być jak najkrótsza. To jest otoczka wypukła. Można to sobie wyobrazić jak gumkę naciągniętą na punkty. Użyłem algorytmu Andrew: najpierw sortuję punkty, potem buduję dolną i górną część.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$n$</a:t>
            </a:r>
            <a:r>
              <a:rPr lang="ru-RU" dirty="0"/>
              <a:t> to liczba kopalni. Cała złożoność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$\log n$</a:t>
            </a:r>
            <a:r>
              <a:rPr lang="ru-RU" dirty="0"/>
              <a:t> wynika tylko z tego, że musimy posort</a:t>
            </a:r>
            <a:br>
              <a:rPr lang="ru-RU" dirty="0"/>
            </a:br>
            <a:r>
              <a:rPr lang="ru-RU" dirty="0"/>
              <a:t>2.Wybrałem algorytm Andrew, ponieważ pozwolił mi uniknąć obliczania kątów. Wykorzystuje on proste sortowanie leksykograficzne według współrzędnych X i Y — działa to szybciej i całkowicie eliminuje błędy matematyczne przy pracy na ułamkachować kopalnie od lewej do prawej (jak słowa w słowniku). Po posortowaniu po prostu „naciągamy” trasę w jednym szybkim przejściu.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Trzeci moduł — obrona. Wróg atakuje jeden odcinek muru. Musimy szybko znaleźć najgłośniejszego strażnika — on wezwie pomoc. To jest pytanie o maksimum na przedziale, czyli RMQ. Zbudowałem drzewo przedziałowe. Każdy węzeł trzyma maksimum swojego zakresu. Dzięki temu odpowiedź zajmuje O log n, zamiast O n przy zwykłym przeglądaniu.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$n$ to długość muru. Logarytm ($\log n$) oznacza, że nie pytamy każdego strażnika po kolei, co zajęłoby czas $O(n)$. Mur jest podzielony na połowy, ćwiartki i tak dalej. Aby znaleźć najgłośniejszego krasnoludka, pytamy tylko „dowódców” dużych odcinków. Zajmuje to zaledwie kilkadziesiąt kroków, nawet dla ogromnego muru.</a:t>
            </a:r>
            <a:r>
              <a:rPr lang="ru-RU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Czwarty moduł to kronika.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&gt; Musimy zmniejszyć jej rozmiar i bardzo szybko w niej szukać.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 kompresji użyłem algorytmu Huffmana.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&gt; To działa jak alfabet Morse'a – częsty znak dostaje krótki kod. Drzewo buduję za pomocą kolejki priorytetowej. Kompresja jest bezstratna (nic nie tracimy).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 szukania słów dodałem strukturę Trie.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&gt; Dlaczego nie KMP z wykładów? Bo algorytm KMP musi czytać cały tekst od nowa przy każdym szukaniu. A drzewo Trie szuka słowa w czasie $\mathcal{O}(m)$.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 to znaczy w praktyce?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&gt; Litera $m$ to długość słowa. Jeśli słowo ma 5 liter, robię dokładnie 5 kroków w drzewie. Nie jest ważne, czy książka ma tysiąc, czy milion stron — wynik jest natychmiast.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KMP - </a:t>
            </a:r>
            <a:r>
              <a:rPr lang="ru-RU" dirty="0"/>
              <a:t>algorytm Knutha-Morrisa-Pratta</a:t>
            </a:r>
            <a:br>
              <a:rPr lang="en-US" dirty="0"/>
            </a:br>
            <a:r>
              <a:rPr lang="en-US" dirty="0"/>
              <a:t>BST - </a:t>
            </a:r>
            <a:r>
              <a:rPr lang="ru-RU" dirty="0"/>
              <a:t>Binarne drzewo poszukiwań</a:t>
            </a:r>
            <a:br>
              <a:rPr lang="en-US" dirty="0"/>
            </a:br>
            <a:r>
              <a:rPr lang="en-US" dirty="0"/>
              <a:t>AVL - </a:t>
            </a:r>
            <a:r>
              <a:rPr lang="ru-RU" dirty="0"/>
              <a:t>Drzewo Adelsona-Wielskiego i Łandisa</a:t>
            </a:r>
            <a:br>
              <a:rPr lang="en-US" dirty="0"/>
            </a:br>
            <a:r>
              <a:rPr lang="ru-RU" dirty="0"/>
              <a:t>1</a:t>
            </a:r>
            <a:r>
              <a:rPr lang="ru-R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Algorytm zachłanny (z wykładów): „Metoda egoisty”. Wyobraź sobie, że krasnoludy po kolei wybierają swoje zlecenia do pracy. Pierwszy krasnolud zabiera dla siebie najbliższą kopalnię. Drugi zabiera najbliższą z tych, które zostały.</a:t>
            </a:r>
          </a:p>
          <a:p>
            <a:r>
              <a:rPr lang="ru-R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Dlaczego to zły pomysł: Ostatnim krasnoludom przypadną kopalnie na samym końcu królestwa! W rezultacie, jeśli zsumujesz dystans pokonany przez wszystkich krasnoludów, wyjdzie gigantyczna liczba. System działa nieefektywnie.</a:t>
            </a:r>
          </a:p>
          <a:p>
            <a:br>
              <a:rPr lang="ru-RU" dirty="0"/>
            </a:br>
            <a:r>
              <a:rPr lang="ru-RU" dirty="0"/>
              <a:t>2.Wybrałem algorytm Andrew, ponieważ pozwolił mi uniknąć obliczania kątów. Wykorzystuje on proste sortowanie leksykograficzne według współrzędnych X i Y — działa to szybciej i całkowicie eliminuje błędy matematyczne przy pracy na ułamkach</a:t>
            </a:r>
            <a:br>
              <a:rPr lang="ru-RU" dirty="0"/>
            </a:br>
            <a:r>
              <a:rPr lang="ru-RU" b="1" dirty="0"/>
              <a:t>1. Algorytm Jarvisa („Metoda sznurka”)</a:t>
            </a:r>
            <a:endParaRPr lang="ru-RU" dirty="0"/>
          </a:p>
          <a:p>
            <a:r>
              <a:rPr lang="ru-RU" b="1" dirty="0"/>
              <a:t>Jak działa:</a:t>
            </a:r>
            <a:r>
              <a:rPr lang="ru-RU" dirty="0"/>
              <a:t> Szuka punktów po kolei, jakby naciągał sznurek od kołka do kołka.</a:t>
            </a:r>
          </a:p>
          <a:p>
            <a:r>
              <a:rPr lang="ru-RU" b="1" dirty="0"/>
              <a:t>Dlaczego odrzuciłem:</a:t>
            </a:r>
            <a:r>
              <a:rPr lang="ru-RU" dirty="0"/>
              <a:t> Jest za wolny. Dla każdego nowego kroku algorytm od nowa sprawdza wszystkie pozostałe kopalnie.</a:t>
            </a:r>
          </a:p>
          <a:p>
            <a:r>
              <a:rPr lang="ru-RU" b="1" dirty="0"/>
              <a:t>2. Algorytm Grahama („Metoda kątomierza”)</a:t>
            </a:r>
            <a:endParaRPr lang="ru-RU" dirty="0"/>
          </a:p>
          <a:p>
            <a:r>
              <a:rPr lang="ru-RU" b="1" dirty="0"/>
              <a:t>Jak działa:</a:t>
            </a:r>
            <a:r>
              <a:rPr lang="ru-RU" dirty="0"/>
              <a:t> Mierzy kąty od startowej kopalni do reszty i sortuje je po wielkości kąta.</a:t>
            </a:r>
          </a:p>
          <a:p>
            <a:r>
              <a:rPr lang="ru-RU" b="1" dirty="0"/>
              <a:t>Dlaczego odrzuciłem:</a:t>
            </a:r>
            <a:r>
              <a:rPr lang="ru-RU" dirty="0"/>
              <a:t> Błędy precyzji. Kąty to ułamki. Komputer je zaokrągla, gubi się i mur może wyjść krzywy.</a:t>
            </a:r>
          </a:p>
          <a:p>
            <a:br>
              <a:rPr lang="ru-RU" dirty="0"/>
            </a:br>
            <a:r>
              <a:rPr lang="ru-RU" dirty="0"/>
              <a:t>3. BST / Drzewo AVL (z wykładów): „Książka telefoniczna”. Ten algorytm jest idealny, jeśli musisz szybko znaleźć jednego konkretnego krasnoluda po jego numerze osobistym lub imieniu.</a:t>
            </a:r>
            <a:br>
              <a:rPr lang="ru-RU" dirty="0"/>
            </a:br>
            <a:r>
              <a:rPr lang="ru-RU" dirty="0"/>
              <a:t>4. „Wybrałem algorytm Trie (drzewo trie), a nie rozwiązania z wykładów, ponieważ jest on optymalny dla tego zadania. Algorytmy zaproponowane na wykładach są dobre, ale nie w tym przypadku. Przy każdym wyszukiwaniu zmuszają one komputer do „przeczytania” całej książki od pierwszej do ostatniej strony (co zajmuje czas \(\mathcal{O}(n)\)). Trie działa natomiast jak indeks alfabetyczny: wyszukiwanie zajmuje dokładnie tyle kroków, ile jest liter w samym słowie (czyli czas \(\mathcal{O}(m)\)). Nie ma dla mnie żadnego znaczenia, czy kronika ma tysiąc stron, czy milion — z moim algorytmem wynik pojawia się błyskawicznie”</a:t>
            </a:r>
            <a:br>
              <a:rPr lang="ru-RU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jest najważniejszy slajd. To nie są cztery osobne zadania. To jeden ciąg — pajplajn. Wynik jednego modułu to dane dla następnego. Moduł 1 daje listę czynnych kopalni. Te kopalnie to punkty dla modułu 2. Trasa z modułu 2 to mur dla modułu 3. A wynik obrony zapisuje moduł 4 w kronice. Wszystko płynie przez całe królestwo.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Projekt to nie tylko algorytmy. Mam 26 testów — wszystkie przechodzą. Ważne operacje działają szybko, w czasie logarytmicznym. Testy uruchamiają się same przez GitHub Actions po każdej zmianie. Kod jest podzielony na cztery moduły. Użyłem: Python, pytest, matplotlib. Jest też pełna dokumentacja po polsku.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koniec pokażę, że to naprawdę działa — na żywo. Mam wizualizację każdego algorytmu krok po kroku. Mam grę przez cały pajplajn. Mam też tryb piaskownicy. [TERAZ PRZEŁĄCZAM NA APLIKACJĘ: w module 2 klikam punkty — trasa liczy się od razu. Albo w module 4 proszę o dowolne słowo i pokazuję, o ile procent tekst się zmniejszył.]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Podsumuję. Cztery znane problemy algorytmiczne. Połączone w jedną historię. Z działającym kodem, testami i wizualizacjami. To bajka, która naprawdę działa. Dziękuję za uwagę. Chętnie odpowiem na pytania.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73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ALGORYTMY I STRUKTURY DANYCH II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Królestwo Krasnoludków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457200" y="3337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B8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Cztery problemy królestwa — cztery algorytmy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014216" y="4297680"/>
            <a:ext cx="566928" cy="566928"/>
          </a:xfrm>
          <a:prstGeom prst="ellipse">
            <a:avLst/>
          </a:prstGeom>
          <a:solidFill>
            <a:srgbClr val="4DD9F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6" name="Image 0" descr="ic_m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7287" y="4450751"/>
            <a:ext cx="260787" cy="26078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202936" y="4297680"/>
            <a:ext cx="566928" cy="566928"/>
          </a:xfrm>
          <a:prstGeom prst="ellipse">
            <a:avLst/>
          </a:prstGeom>
          <a:solidFill>
            <a:srgbClr val="F5C84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8" name="Image 1" descr="ic_m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6007" y="4450751"/>
            <a:ext cx="260787" cy="260787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391656" y="4297680"/>
            <a:ext cx="566928" cy="566928"/>
          </a:xfrm>
          <a:prstGeom prst="ellipse">
            <a:avLst/>
          </a:prstGeom>
          <a:solidFill>
            <a:srgbClr val="F47C7C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0" name="Image 2" descr="ic_m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4727" y="4450751"/>
            <a:ext cx="260787" cy="260787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7580376" y="4297680"/>
            <a:ext cx="566928" cy="566928"/>
          </a:xfrm>
          <a:prstGeom prst="ellipse">
            <a:avLst/>
          </a:prstGeom>
          <a:solidFill>
            <a:srgbClr val="5BC88E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2" name="Image 3" descr="ic_m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3447" y="4450751"/>
            <a:ext cx="260787" cy="26078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3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Danila Kozik   ·   UMK Toruń   ·   github.com/kozik77/AISD-2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50" dirty="0">
                <a:solidFill>
                  <a:srgbClr val="F5C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Jeden dzień w królestwie — cztery wyzwania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1E1E3A"/>
          </a:solidFill>
          <a:ln w="12700">
            <a:solidFill>
              <a:srgbClr val="2E2E5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1005840" y="2377440"/>
            <a:ext cx="914400" cy="914400"/>
          </a:xfrm>
          <a:prstGeom prst="ellipse">
            <a:avLst/>
          </a:prstGeom>
          <a:solidFill>
            <a:srgbClr val="4DD9F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6" name="Image 0" descr="ic_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728" y="262432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48840" y="216712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Kogo do której kopalni?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2148840" y="2715768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B8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Górnicy mają różne umiejętności i odległości. Zatrudnić maksimum przy minimum drogi.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63640" y="187452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1E1E3A"/>
          </a:solidFill>
          <a:ln w="12700">
            <a:solidFill>
              <a:srgbClr val="2E2E5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6629400" y="2377440"/>
            <a:ext cx="914400" cy="914400"/>
          </a:xfrm>
          <a:prstGeom prst="ellipse">
            <a:avLst/>
          </a:prstGeom>
          <a:solidFill>
            <a:srgbClr val="F5C84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1" name="Image 1" descr="ic_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288" y="262432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0" y="216712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Jak obronić teren?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7772400" y="2715768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B8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Książę musi obejść czynne kopalnie murem po najkrótszej trasie.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40080" y="406908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1E1E3A"/>
          </a:solidFill>
          <a:ln w="12700">
            <a:solidFill>
              <a:srgbClr val="2E2E5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1"/>
          <p:cNvSpPr/>
          <p:nvPr/>
        </p:nvSpPr>
        <p:spPr>
          <a:xfrm>
            <a:off x="1005840" y="4572000"/>
            <a:ext cx="914400" cy="914400"/>
          </a:xfrm>
          <a:prstGeom prst="ellipse">
            <a:avLst/>
          </a:prstGeom>
          <a:solidFill>
            <a:srgbClr val="F47C7C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6" name="Image 2" descr="ic_p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2728" y="4818888"/>
            <a:ext cx="420624" cy="4206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148840" y="436168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Kto odeprze atak?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2148840" y="4910328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B8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Wróg uderza w odcinek muru — kto ze strażników krzyknie najgłośniej?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263640" y="406908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1E1E3A"/>
          </a:solidFill>
          <a:ln w="12700">
            <a:solidFill>
              <a:srgbClr val="2E2E5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Shape 15"/>
          <p:cNvSpPr/>
          <p:nvPr/>
        </p:nvSpPr>
        <p:spPr>
          <a:xfrm>
            <a:off x="6629400" y="4572000"/>
            <a:ext cx="914400" cy="914400"/>
          </a:xfrm>
          <a:prstGeom prst="ellipse">
            <a:avLst/>
          </a:prstGeom>
          <a:solidFill>
            <a:srgbClr val="5BC88E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1" name="Image 3" descr="ic_p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6288" y="4818888"/>
            <a:ext cx="420624" cy="4206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0" y="436168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Jak zapisać kronikę?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7772400" y="4910328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B8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Wydarzenia dnia trzeba zarchiwizować oszczędnie i przeszukiwalnie.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50" dirty="0">
                <a:solidFill>
                  <a:srgbClr val="4D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CZYM ROZWIĄZALIŚMY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Cztery problemy → cztery algorytmy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1E1E3A"/>
          </a:solidFill>
          <a:ln w="12700">
            <a:solidFill>
              <a:srgbClr val="2E2E5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868680" y="2286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DD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508760" y="2834640"/>
            <a:ext cx="822960" cy="822960"/>
          </a:xfrm>
          <a:prstGeom prst="ellipse">
            <a:avLst/>
          </a:prstGeom>
          <a:solidFill>
            <a:srgbClr val="4DD9F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7" name="Image 0" descr="ic_m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0959" y="3056839"/>
            <a:ext cx="378562" cy="3785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840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Min-Cost Max-Flow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97280" y="457200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14142A"/>
          </a:solidFill>
          <a:ln w="12700">
            <a:solidFill>
              <a:srgbClr val="4DD9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/>
          <p:nvPr/>
        </p:nvSpPr>
        <p:spPr>
          <a:xfrm>
            <a:off x="1097280" y="457200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DD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O(F · V · E)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" y="5029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3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przydział górników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429000" y="205740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1E1E3A"/>
          </a:solidFill>
          <a:ln w="12700">
            <a:solidFill>
              <a:srgbClr val="2E2E5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3657600" y="2286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C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297680" y="2834640"/>
            <a:ext cx="822960" cy="822960"/>
          </a:xfrm>
          <a:prstGeom prst="ellipse">
            <a:avLst/>
          </a:prstGeom>
          <a:solidFill>
            <a:srgbClr val="F5C84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5" name="Image 1" descr="ic_m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9879" y="3056839"/>
            <a:ext cx="378562" cy="37856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66160" y="3840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Otoczka wypukła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3886200" y="457200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14142A"/>
          </a:solidFill>
          <a:ln w="12700">
            <a:solidFill>
              <a:srgbClr val="F5C84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4"/>
          <p:cNvSpPr/>
          <p:nvPr/>
        </p:nvSpPr>
        <p:spPr>
          <a:xfrm>
            <a:off x="3886200" y="457200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C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 log n)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566160" y="5029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3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trasa patrolu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217920" y="205740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1E1E3A"/>
          </a:solidFill>
          <a:ln w="12700">
            <a:solidFill>
              <a:srgbClr val="2E2E5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7"/>
          <p:cNvSpPr/>
          <p:nvPr/>
        </p:nvSpPr>
        <p:spPr>
          <a:xfrm>
            <a:off x="6446520" y="2286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7C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7086600" y="2834640"/>
            <a:ext cx="822960" cy="822960"/>
          </a:xfrm>
          <a:prstGeom prst="ellipse">
            <a:avLst/>
          </a:prstGeom>
          <a:solidFill>
            <a:srgbClr val="F47C7C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3" name="Image 2" descr="ic_m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8799" y="3056839"/>
            <a:ext cx="378562" cy="37856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355080" y="3840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Drzewo przedziałowe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6675120" y="457200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14142A"/>
          </a:solidFill>
          <a:ln w="12700">
            <a:solidFill>
              <a:srgbClr val="F47C7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 21"/>
          <p:cNvSpPr/>
          <p:nvPr/>
        </p:nvSpPr>
        <p:spPr>
          <a:xfrm>
            <a:off x="6675120" y="457200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7C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O(log n)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6355080" y="5029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3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obrona muru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9006840" y="205740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1E1E3A"/>
          </a:solidFill>
          <a:ln w="12700">
            <a:solidFill>
              <a:srgbClr val="2E2E5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Text 24"/>
          <p:cNvSpPr/>
          <p:nvPr/>
        </p:nvSpPr>
        <p:spPr>
          <a:xfrm>
            <a:off x="9235440" y="2286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C8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30" name="Shape 25"/>
          <p:cNvSpPr/>
          <p:nvPr/>
        </p:nvSpPr>
        <p:spPr>
          <a:xfrm>
            <a:off x="9875520" y="2834640"/>
            <a:ext cx="822960" cy="822960"/>
          </a:xfrm>
          <a:prstGeom prst="ellipse">
            <a:avLst/>
          </a:prstGeom>
          <a:solidFill>
            <a:srgbClr val="5BC88E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1" name="Image 3" descr="ic_m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97719" y="3056839"/>
            <a:ext cx="378562" cy="37856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144000" y="3840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Huffman + Trie</a:t>
            </a:r>
            <a:endParaRPr lang="en-US" sz="1600" dirty="0"/>
          </a:p>
        </p:txBody>
      </p:sp>
      <p:sp>
        <p:nvSpPr>
          <p:cNvPr id="33" name="Shape 27"/>
          <p:cNvSpPr/>
          <p:nvPr/>
        </p:nvSpPr>
        <p:spPr>
          <a:xfrm>
            <a:off x="9464040" y="457200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14142A"/>
          </a:solidFill>
          <a:ln w="12700">
            <a:solidFill>
              <a:srgbClr val="5BC88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4" name="Text 28"/>
          <p:cNvSpPr/>
          <p:nvPr/>
        </p:nvSpPr>
        <p:spPr>
          <a:xfrm>
            <a:off x="9464040" y="457200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C8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 log n)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9144000" y="5029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3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spis kroniki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19193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3364992" y="0"/>
            <a:ext cx="36576" cy="6858000"/>
          </a:xfrm>
          <a:prstGeom prst="rect">
            <a:avLst/>
          </a:prstGeom>
          <a:solidFill>
            <a:srgbClr val="4DD9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DD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04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43000" y="1463040"/>
            <a:ext cx="1097280" cy="1097280"/>
          </a:xfrm>
          <a:prstGeom prst="ellipse">
            <a:avLst/>
          </a:prstGeom>
          <a:solidFill>
            <a:srgbClr val="4DD9F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6" name="Image 0" descr="ic_m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9266" y="1759306"/>
            <a:ext cx="504749" cy="5047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27432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MCMF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274320" y="331012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8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Min-Cost Max-Flow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74320" y="40690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73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ZŁOŻONOŚĆ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14400" y="4370832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4142A"/>
          </a:solidFill>
          <a:ln w="12700">
            <a:solidFill>
              <a:srgbClr val="4DD9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914400" y="437083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DD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O(F · V · E)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840480" y="914400"/>
            <a:ext cx="73152" cy="292608"/>
          </a:xfrm>
          <a:prstGeom prst="rect">
            <a:avLst/>
          </a:prstGeom>
          <a:solidFill>
            <a:srgbClr val="4DD9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4069080" y="8686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4D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069080" y="1325880"/>
            <a:ext cx="7726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1700" dirty="0">
                <a:solidFill>
                  <a:srgbClr val="B8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Przydzielić górników do kopalni: zatrudnić jak najwięcej, przy minimalnej sumie odległości.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3840480" y="2788920"/>
            <a:ext cx="73152" cy="292608"/>
          </a:xfrm>
          <a:prstGeom prst="rect">
            <a:avLst/>
          </a:prstGeom>
          <a:solidFill>
            <a:srgbClr val="4DD9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3"/>
          <p:cNvSpPr/>
          <p:nvPr/>
        </p:nvSpPr>
        <p:spPr>
          <a:xfrm>
            <a:off x="4069080" y="27432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4D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ROZWIĄZANIE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069080" y="3200400"/>
            <a:ext cx="7726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Sieć przepływowa: źródło → górnicy → kopalnie → ujście. Maks. przepływ = max zatrudnienie, min. koszt = min droga.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19193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3364992" y="0"/>
            <a:ext cx="36576" cy="6858000"/>
          </a:xfrm>
          <a:prstGeom prst="rect">
            <a:avLst/>
          </a:prstGeom>
          <a:solidFill>
            <a:srgbClr val="F5C84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C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04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43000" y="1463040"/>
            <a:ext cx="1097280" cy="1097280"/>
          </a:xfrm>
          <a:prstGeom prst="ellipse">
            <a:avLst/>
          </a:prstGeom>
          <a:solidFill>
            <a:srgbClr val="F5C84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6" name="Image 0" descr="ic_m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9266" y="1759306"/>
            <a:ext cx="504749" cy="5047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27432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Otoczka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274320" y="331012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8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Otoczka wypukła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74320" y="40690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73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ZŁOŻONOŚĆ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14400" y="4370832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4142A"/>
          </a:solidFill>
          <a:ln w="12700">
            <a:solidFill>
              <a:srgbClr val="F5C84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914400" y="437083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C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 log n)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840480" y="914400"/>
            <a:ext cx="73152" cy="292608"/>
          </a:xfrm>
          <a:prstGeom prst="rect">
            <a:avLst/>
          </a:prstGeom>
          <a:solidFill>
            <a:srgbClr val="F5C84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4069080" y="8686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5C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069080" y="1325880"/>
            <a:ext cx="7726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1700" dirty="0">
                <a:solidFill>
                  <a:srgbClr val="B8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Najkrótsza zamknięta trasa, która obejmuje wszystkie czynne kopalnie.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3840480" y="2788920"/>
            <a:ext cx="73152" cy="292608"/>
          </a:xfrm>
          <a:prstGeom prst="rect">
            <a:avLst/>
          </a:prstGeom>
          <a:solidFill>
            <a:srgbClr val="F5C84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3"/>
          <p:cNvSpPr/>
          <p:nvPr/>
        </p:nvSpPr>
        <p:spPr>
          <a:xfrm>
            <a:off x="4069080" y="27432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5C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ROZWIĄZANIE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069080" y="3200400"/>
            <a:ext cx="7726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„Gumka recepturka" naciągnięta na skrajne punkty. Sortowanie, potem dolna i górna półotoczka.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19193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3364992" y="0"/>
            <a:ext cx="36576" cy="6858000"/>
          </a:xfrm>
          <a:prstGeom prst="rect">
            <a:avLst/>
          </a:prstGeom>
          <a:solidFill>
            <a:srgbClr val="F47C7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7C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04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43000" y="1463040"/>
            <a:ext cx="1097280" cy="1097280"/>
          </a:xfrm>
          <a:prstGeom prst="ellipse">
            <a:avLst/>
          </a:prstGeom>
          <a:solidFill>
            <a:srgbClr val="F47C7C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6" name="Image 0" descr="ic_m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9266" y="1759306"/>
            <a:ext cx="504749" cy="5047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27432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RMQ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274320" y="331012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8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Drzewo przedziałowe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74320" y="40690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73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ZŁOŻONOŚĆ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14400" y="4370832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4142A"/>
          </a:solidFill>
          <a:ln w="12700">
            <a:solidFill>
              <a:srgbClr val="F47C7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914400" y="437083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7C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O(log n)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840480" y="914400"/>
            <a:ext cx="73152" cy="292608"/>
          </a:xfrm>
          <a:prstGeom prst="rect">
            <a:avLst/>
          </a:prstGeom>
          <a:solidFill>
            <a:srgbClr val="F47C7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4069080" y="8686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4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069080" y="1325880"/>
            <a:ext cx="7726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1700" dirty="0">
                <a:solidFill>
                  <a:srgbClr val="B8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odcinku muru [l, r] znaleźć strażnika o największej głośności — błyskawicznie.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3840480" y="2788920"/>
            <a:ext cx="73152" cy="292608"/>
          </a:xfrm>
          <a:prstGeom prst="rect">
            <a:avLst/>
          </a:prstGeom>
          <a:solidFill>
            <a:srgbClr val="F47C7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3"/>
          <p:cNvSpPr/>
          <p:nvPr/>
        </p:nvSpPr>
        <p:spPr>
          <a:xfrm>
            <a:off x="4069080" y="27432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4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ROZWIĄZANIE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069080" y="3200400"/>
            <a:ext cx="7726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Drzewo, w którym każdy węzeł trzyma maksimum swojego zakresu. Zapytanie schodzi tylko po potrzebnych gałęziach.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19193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3364992" y="0"/>
            <a:ext cx="36576" cy="6858000"/>
          </a:xfrm>
          <a:prstGeom prst="rect">
            <a:avLst/>
          </a:prstGeom>
          <a:solidFill>
            <a:srgbClr val="5BC88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C8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04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43000" y="1463040"/>
            <a:ext cx="1097280" cy="1097280"/>
          </a:xfrm>
          <a:prstGeom prst="ellipse">
            <a:avLst/>
          </a:prstGeom>
          <a:solidFill>
            <a:srgbClr val="5BC88E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6" name="Image 0" descr="ic_m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9266" y="1759306"/>
            <a:ext cx="504749" cy="5047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27432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Huffman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274320" y="331012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8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Huffman + Trie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74320" y="40690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73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ZŁOŻONOŚĆ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96112" y="4370832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4142A"/>
          </a:solidFill>
          <a:ln w="12700">
            <a:solidFill>
              <a:srgbClr val="5BC88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914400" y="437083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C8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 log n)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840480" y="914400"/>
            <a:ext cx="73152" cy="292608"/>
          </a:xfrm>
          <a:prstGeom prst="rect">
            <a:avLst/>
          </a:prstGeom>
          <a:solidFill>
            <a:srgbClr val="5BC88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4069080" y="8686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5BC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069080" y="1325880"/>
            <a:ext cx="7726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1700" dirty="0">
                <a:solidFill>
                  <a:srgbClr val="B8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Skompresować kronikę i szybko wyszukiwać w niej słowa.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3840480" y="2788920"/>
            <a:ext cx="73152" cy="292608"/>
          </a:xfrm>
          <a:prstGeom prst="rect">
            <a:avLst/>
          </a:prstGeom>
          <a:solidFill>
            <a:srgbClr val="5BC88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3"/>
          <p:cNvSpPr/>
          <p:nvPr/>
        </p:nvSpPr>
        <p:spPr>
          <a:xfrm>
            <a:off x="4069080" y="27432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5BC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ROZWIĄZANIE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069080" y="3200400"/>
            <a:ext cx="7726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Huffman: częstszy znak → krótszy kod (drzewo z kolejki priorytetowej). Trie: wyszukiwanie po prefiksie.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50" dirty="0">
                <a:solidFill>
                  <a:srgbClr val="4D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WYBÓR ALGORYTMU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 mogłoby zastąpić — i dlaczego mój wygrywa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73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MÓJ ALGORYTM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520440" y="187452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73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MOŻLIWA ALTERNATYWA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355080" y="1874520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73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DLACZEGO MÓJ JEST LEPSZY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2743200" cy="932688"/>
          </a:xfrm>
          <a:prstGeom prst="roundRect">
            <a:avLst>
              <a:gd name="adj" fmla="val 6863"/>
            </a:avLst>
          </a:prstGeom>
          <a:solidFill>
            <a:srgbClr val="1E1E3A"/>
          </a:solidFill>
          <a:ln w="15240">
            <a:solidFill>
              <a:srgbClr val="4DD9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27432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D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MCMF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520440" y="2331720"/>
            <a:ext cx="26974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Algorytm zachłanny (kolejka priorytetowa)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355080" y="2331720"/>
            <a:ext cx="51663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B8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Zachłanny daje tylko lokalne optimum — pierwszym krasnalom blisko, ostatnim bardzo daleko. MCMF gwarantuje optimum globalne: maks. wydobycie przy min. sumie wszystkich tras.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410712"/>
            <a:ext cx="2743200" cy="932688"/>
          </a:xfrm>
          <a:prstGeom prst="roundRect">
            <a:avLst>
              <a:gd name="adj" fmla="val 6863"/>
            </a:avLst>
          </a:prstGeom>
          <a:solidFill>
            <a:srgbClr val="1E1E3A"/>
          </a:solidFill>
          <a:ln w="15240">
            <a:solidFill>
              <a:srgbClr val="F5C84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640080" y="3410712"/>
            <a:ext cx="27432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C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Otoczka (Andrew)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20440" y="3410712"/>
            <a:ext cx="26974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 March (owijanie)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355080" y="3410712"/>
            <a:ext cx="51663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B8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sam wynik, ale O(n·h) — w najgorszym razie O(n²). Andrew zawsze O(n log n).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489704"/>
            <a:ext cx="2743200" cy="932688"/>
          </a:xfrm>
          <a:prstGeom prst="roundRect">
            <a:avLst>
              <a:gd name="adj" fmla="val 6863"/>
            </a:avLst>
          </a:prstGeom>
          <a:solidFill>
            <a:srgbClr val="1E1E3A"/>
          </a:solidFill>
          <a:ln w="15240">
            <a:solidFill>
              <a:srgbClr val="F47C7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640080" y="4489704"/>
            <a:ext cx="27432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Drzewo przedz.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20440" y="4489704"/>
            <a:ext cx="26974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 / drzewo AVL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355080" y="4489704"/>
            <a:ext cx="51663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B8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BST/AVL szybko znajdzie pojedynczy element, ale nie radzi sobie z zakresami. Drzewo przedziałowe jest stworzone do RMQ — maksimum na dowolnym odcinku w O(log n), z łatwą aktualizacją.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5568696"/>
            <a:ext cx="2743200" cy="932688"/>
          </a:xfrm>
          <a:prstGeom prst="roundRect">
            <a:avLst>
              <a:gd name="adj" fmla="val 6863"/>
            </a:avLst>
          </a:prstGeom>
          <a:solidFill>
            <a:srgbClr val="1E1E3A"/>
          </a:solidFill>
          <a:ln w="15240">
            <a:solidFill>
              <a:srgbClr val="5BC88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640080" y="5568696"/>
            <a:ext cx="27432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C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Huffman + Trie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520440" y="5568696"/>
            <a:ext cx="26974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Huffman + KMP / Boyer-Moore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355080" y="5568696"/>
            <a:ext cx="51663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B8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KMP i Boyer-Moore skanują cały tekst — O(n) na każde zapytanie. Trie działa jak skorowidz: szuka słowa w O(m), niezależnie od grubości księgi.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50" dirty="0">
                <a:solidFill>
                  <a:srgbClr val="F5C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DLACZEGO TO SPÓJNY PROJEKT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Cztery moduły to jeden pajplajn</a:t>
            </a:r>
            <a:endParaRPr lang="en-US" sz="3100" dirty="0"/>
          </a:p>
        </p:txBody>
      </p:sp>
      <p:pic>
        <p:nvPicPr>
          <p:cNvPr id="4" name="Image 0" descr="pipeline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65960"/>
            <a:ext cx="11155680" cy="2377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4800600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800" i="1" dirty="0">
                <a:solidFill>
                  <a:srgbClr val="B8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Wyjście każdego modułu jest wejściem następnego — to nie cztery osobne zadania,</a:t>
            </a:r>
            <a:endParaRPr lang="en-US" sz="1800" dirty="0"/>
          </a:p>
          <a:p>
            <a:pPr marL="0" indent="0" algn="ctr">
              <a:lnSpc>
                <a:spcPts val="2700"/>
              </a:lnSpc>
              <a:buNone/>
            </a:pPr>
            <a:r>
              <a:rPr lang="en-US" sz="1800" i="1" dirty="0">
                <a:solidFill>
                  <a:srgbClr val="B8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lecz jeden ciągły przepływ danych przez królestwo.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50" dirty="0">
                <a:solidFill>
                  <a:srgbClr val="4D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LEPSZE STRONY — INŻYNIERIA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Nie tylko działa — jest zrobione solidnie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560320" cy="2788920"/>
          </a:xfrm>
          <a:prstGeom prst="roundRect">
            <a:avLst>
              <a:gd name="adj" fmla="val 2857"/>
            </a:avLst>
          </a:prstGeom>
          <a:solidFill>
            <a:srgbClr val="1E1E3A"/>
          </a:solidFill>
          <a:ln w="12700">
            <a:solidFill>
              <a:srgbClr val="2E2E5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1691640" y="2468880"/>
            <a:ext cx="457200" cy="457200"/>
          </a:xfrm>
          <a:prstGeom prst="ellipse">
            <a:avLst/>
          </a:prstGeom>
          <a:solidFill>
            <a:srgbClr val="5BC88E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6" name="Image 0" descr="ic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5084" y="2592324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0632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5BC8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822960" y="39319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50" dirty="0">
                <a:solidFill>
                  <a:srgbClr val="B8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testów jednostkowych,</a:t>
            </a:r>
            <a:endParaRPr lang="en-US" sz="135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sz="1350" dirty="0">
                <a:solidFill>
                  <a:srgbClr val="B8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wszystkie zielone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3429000" y="2148840"/>
            <a:ext cx="2560320" cy="2788920"/>
          </a:xfrm>
          <a:prstGeom prst="roundRect">
            <a:avLst>
              <a:gd name="adj" fmla="val 2857"/>
            </a:avLst>
          </a:prstGeom>
          <a:solidFill>
            <a:srgbClr val="1E1E3A"/>
          </a:solidFill>
          <a:ln w="12700">
            <a:solidFill>
              <a:srgbClr val="2E2E5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4480560" y="2468880"/>
            <a:ext cx="457200" cy="457200"/>
          </a:xfrm>
          <a:prstGeom prst="ellipse">
            <a:avLst/>
          </a:prstGeom>
          <a:solidFill>
            <a:srgbClr val="4DD9F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1" name="Image 1" descr="ic_spe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4004" y="2592324"/>
            <a:ext cx="210312" cy="210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29000" y="30632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DD9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O(log n)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3611880" y="39319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50" dirty="0">
                <a:solidFill>
                  <a:srgbClr val="B8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zapytanie RMQ</a:t>
            </a:r>
            <a:endParaRPr lang="en-US" sz="135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sz="1350" dirty="0">
                <a:solidFill>
                  <a:srgbClr val="B8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zamiast O(n)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17920" y="2148840"/>
            <a:ext cx="2560320" cy="2788920"/>
          </a:xfrm>
          <a:prstGeom prst="roundRect">
            <a:avLst>
              <a:gd name="adj" fmla="val 2857"/>
            </a:avLst>
          </a:prstGeom>
          <a:solidFill>
            <a:srgbClr val="1E1E3A"/>
          </a:solidFill>
          <a:ln w="12700">
            <a:solidFill>
              <a:srgbClr val="2E2E5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1"/>
          <p:cNvSpPr/>
          <p:nvPr/>
        </p:nvSpPr>
        <p:spPr>
          <a:xfrm>
            <a:off x="7269480" y="2468880"/>
            <a:ext cx="457200" cy="457200"/>
          </a:xfrm>
          <a:prstGeom prst="ellipse">
            <a:avLst/>
          </a:prstGeom>
          <a:solidFill>
            <a:srgbClr val="F5C84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6" name="Image 2" descr="ic_c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2924" y="2592324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30632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5C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</a:t>
            </a:r>
            <a:endParaRPr lang="en-US" sz="3800" dirty="0"/>
          </a:p>
        </p:txBody>
      </p:sp>
      <p:sp>
        <p:nvSpPr>
          <p:cNvPr id="18" name="Text 13"/>
          <p:cNvSpPr/>
          <p:nvPr/>
        </p:nvSpPr>
        <p:spPr>
          <a:xfrm>
            <a:off x="6400800" y="39319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50" dirty="0">
                <a:solidFill>
                  <a:srgbClr val="B8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Actions,</a:t>
            </a:r>
            <a:endParaRPr lang="en-US" sz="135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sz="1350" dirty="0">
                <a:solidFill>
                  <a:srgbClr val="B8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automatyczne testy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9006840" y="2148840"/>
            <a:ext cx="2560320" cy="2788920"/>
          </a:xfrm>
          <a:prstGeom prst="roundRect">
            <a:avLst>
              <a:gd name="adj" fmla="val 2857"/>
            </a:avLst>
          </a:prstGeom>
          <a:solidFill>
            <a:srgbClr val="1E1E3A"/>
          </a:solidFill>
          <a:ln w="12700">
            <a:solidFill>
              <a:srgbClr val="2E2E5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Shape 15"/>
          <p:cNvSpPr/>
          <p:nvPr/>
        </p:nvSpPr>
        <p:spPr>
          <a:xfrm>
            <a:off x="10058400" y="2468880"/>
            <a:ext cx="457200" cy="457200"/>
          </a:xfrm>
          <a:prstGeom prst="ellipse">
            <a:avLst/>
          </a:prstGeom>
          <a:solidFill>
            <a:srgbClr val="F47C7C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1" name="Image 3" descr="ic_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1844" y="2592324"/>
            <a:ext cx="210312" cy="2103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06840" y="30632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47C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800" dirty="0"/>
          </a:p>
        </p:txBody>
      </p:sp>
      <p:sp>
        <p:nvSpPr>
          <p:cNvPr id="23" name="Text 17"/>
          <p:cNvSpPr/>
          <p:nvPr/>
        </p:nvSpPr>
        <p:spPr>
          <a:xfrm>
            <a:off x="9189720" y="39319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50" dirty="0">
                <a:solidFill>
                  <a:srgbClr val="B8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moduły · Clean</a:t>
            </a:r>
            <a:endParaRPr lang="en-US" sz="135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sz="1350" dirty="0">
                <a:solidFill>
                  <a:srgbClr val="B8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3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  ·   pytest   ·   matplotlib   ·   Git / GitHub   ·   pełna dokumentacja PL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50" dirty="0">
                <a:solidFill>
                  <a:srgbClr val="5BC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LEPSZE STRONY —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Algorytmy widać w akcji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784848" y="1618488"/>
            <a:ext cx="4992624" cy="4261104"/>
          </a:xfrm>
          <a:prstGeom prst="roundRect">
            <a:avLst>
              <a:gd name="adj" fmla="val 2146"/>
            </a:avLst>
          </a:prstGeom>
          <a:solidFill>
            <a:srgbClr val="1E1E3A"/>
          </a:solidFill>
          <a:ln w="19050">
            <a:solidFill>
              <a:srgbClr val="F5C84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5" name="Image 0" descr="demo_h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783080"/>
            <a:ext cx="4663440" cy="39136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84848" y="5907024"/>
            <a:ext cx="49926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3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· Piaskownica — otoczka liczona na żywo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2011680"/>
            <a:ext cx="777240" cy="777240"/>
          </a:xfrm>
          <a:prstGeom prst="ellipse">
            <a:avLst/>
          </a:prstGeom>
          <a:solidFill>
            <a:srgbClr val="F5C84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8" name="Image 1" descr="ic_ga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935" y="2221535"/>
            <a:ext cx="357530" cy="3575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20116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 „Jeden dzień w królestwie"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600200" y="246888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B8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Przejście przez cały pajplajn krok po kroku — widać, jak moduły się łączą.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3383280"/>
            <a:ext cx="777240" cy="777240"/>
          </a:xfrm>
          <a:prstGeom prst="ellipse">
            <a:avLst/>
          </a:prstGeom>
          <a:solidFill>
            <a:srgbClr val="4DD9F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2" name="Image 2" descr="ic_viz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935" y="3593135"/>
            <a:ext cx="357530" cy="3575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00200" y="33832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Interaktywna wizualizacja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1600200" y="384048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B8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Każdy algorytm animowany: sieć, gumka, drzewo, kody Huffmana.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640080" y="4754880"/>
            <a:ext cx="777240" cy="777240"/>
          </a:xfrm>
          <a:prstGeom prst="ellipse">
            <a:avLst/>
          </a:prstGeom>
          <a:solidFill>
            <a:srgbClr val="5BC88E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6" name="Image 3" descr="ic_m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935" y="4964735"/>
            <a:ext cx="357530" cy="35753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00200" y="47548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Mapa królestwa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1600200" y="521208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B8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Jedna plansza pokazuje wynik wszystkich czterech etapów naraz.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Bajka, która działa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8346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800" dirty="0">
                <a:solidFill>
                  <a:srgbClr val="B8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Cztery klasyczne problemy algorytmiczne, ubrane w jedną spójną historię —</a:t>
            </a:r>
            <a:endParaRPr lang="en-US" sz="1800" dirty="0"/>
          </a:p>
          <a:p>
            <a:pPr marL="0" indent="0" algn="ctr">
              <a:lnSpc>
                <a:spcPts val="2800"/>
              </a:lnSpc>
              <a:buNone/>
            </a:pPr>
            <a:r>
              <a:rPr lang="en-US" sz="1800" dirty="0">
                <a:solidFill>
                  <a:srgbClr val="B8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działającym kodem, testami i wizualizacjami.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554480" y="4206240"/>
            <a:ext cx="2148840" cy="868680"/>
          </a:xfrm>
          <a:prstGeom prst="roundRect">
            <a:avLst>
              <a:gd name="adj" fmla="val 10526"/>
            </a:avLst>
          </a:prstGeom>
          <a:solidFill>
            <a:srgbClr val="1E1E3A"/>
          </a:solidFill>
          <a:ln w="12700">
            <a:solidFill>
              <a:srgbClr val="2E2E5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1755648" y="4434840"/>
            <a:ext cx="411480" cy="411480"/>
          </a:xfrm>
          <a:prstGeom prst="ellipse">
            <a:avLst/>
          </a:prstGeom>
          <a:solidFill>
            <a:srgbClr val="4DD9F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6" name="Image 0" descr="ic_m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6748" y="4545940"/>
            <a:ext cx="189281" cy="18928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31136" y="432511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MCMF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231136" y="463600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DD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O(F · V · E)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840480" y="4206240"/>
            <a:ext cx="2148840" cy="868680"/>
          </a:xfrm>
          <a:prstGeom prst="roundRect">
            <a:avLst>
              <a:gd name="adj" fmla="val 10526"/>
            </a:avLst>
          </a:prstGeom>
          <a:solidFill>
            <a:srgbClr val="1E1E3A"/>
          </a:solidFill>
          <a:ln w="12700">
            <a:solidFill>
              <a:srgbClr val="2E2E5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4041648" y="4434840"/>
            <a:ext cx="411480" cy="411480"/>
          </a:xfrm>
          <a:prstGeom prst="ellipse">
            <a:avLst/>
          </a:prstGeom>
          <a:solidFill>
            <a:srgbClr val="F5C84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1" name="Image 1" descr="ic_m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2748" y="4545940"/>
            <a:ext cx="189281" cy="18928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17136" y="432511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Otoczka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17136" y="463600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C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 log n)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26480" y="4206240"/>
            <a:ext cx="2148840" cy="868680"/>
          </a:xfrm>
          <a:prstGeom prst="roundRect">
            <a:avLst>
              <a:gd name="adj" fmla="val 10526"/>
            </a:avLst>
          </a:prstGeom>
          <a:solidFill>
            <a:srgbClr val="1E1E3A"/>
          </a:solidFill>
          <a:ln w="12700">
            <a:solidFill>
              <a:srgbClr val="2E2E5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1"/>
          <p:cNvSpPr/>
          <p:nvPr/>
        </p:nvSpPr>
        <p:spPr>
          <a:xfrm>
            <a:off x="6327648" y="4434840"/>
            <a:ext cx="411480" cy="411480"/>
          </a:xfrm>
          <a:prstGeom prst="ellipse">
            <a:avLst/>
          </a:prstGeom>
          <a:solidFill>
            <a:srgbClr val="F47C7C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6" name="Image 2" descr="ic_m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8748" y="4545940"/>
            <a:ext cx="189281" cy="18928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03136" y="432511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RMQ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803136" y="463600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7C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O(log n)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412480" y="4206240"/>
            <a:ext cx="2148840" cy="868680"/>
          </a:xfrm>
          <a:prstGeom prst="roundRect">
            <a:avLst>
              <a:gd name="adj" fmla="val 10526"/>
            </a:avLst>
          </a:prstGeom>
          <a:solidFill>
            <a:srgbClr val="1E1E3A"/>
          </a:solidFill>
          <a:ln w="12700">
            <a:solidFill>
              <a:srgbClr val="2E2E5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Shape 15"/>
          <p:cNvSpPr/>
          <p:nvPr/>
        </p:nvSpPr>
        <p:spPr>
          <a:xfrm>
            <a:off x="8613648" y="4434840"/>
            <a:ext cx="411480" cy="411480"/>
          </a:xfrm>
          <a:prstGeom prst="ellipse">
            <a:avLst/>
          </a:prstGeom>
          <a:solidFill>
            <a:srgbClr val="5BC88E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1" name="Image 3" descr="ic_m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4748" y="4545940"/>
            <a:ext cx="189281" cy="18928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89136" y="432511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Huffman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9089136" y="463600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C8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 log n)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57607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B8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Dziękuję za uwagę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2051</Words>
  <Application>Microsoft Office PowerPoint</Application>
  <PresentationFormat>Widescreen</PresentationFormat>
  <Paragraphs>164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Królestwo Krasnoludków</dc:title>
  <dc:subject>PptxGenJS Presentation</dc:subject>
  <dc:creator>Danila Kozik</dc:creator>
  <cp:lastModifiedBy>kozik danila</cp:lastModifiedBy>
  <cp:revision>3</cp:revision>
  <dcterms:created xsi:type="dcterms:W3CDTF">2026-06-15T19:39:02Z</dcterms:created>
  <dcterms:modified xsi:type="dcterms:W3CDTF">2026-06-15T23:21:18Z</dcterms:modified>
</cp:coreProperties>
</file>